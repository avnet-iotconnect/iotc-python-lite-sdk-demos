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is the same public REST API a customer uses to onboard a fleet. The password rides the same create-user call, so no invite email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files in the kit are exactly what authenticates the board over mutual-TLS MQTT — the same identity mechanism a production device ships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claim page is served locally by the board on port 8088 — no cloud round-trip to install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hop is laptop -&gt; REST API -&gt; C2D command (MQTT) -&gt; board runs the model -&gt; D2C telemetry -&gt; dashboard. Same pipeline a fleet of thousands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Credentials go straight to /IOTCONNECT; the cockpit never stores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D2C stream, rendered. The 1-6 numbering on the cards mirrors the live workshop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ask-llm 'What is an NPU?' then ask-agent 'how warm is the board?' — the hallucination A/B from the live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Ara240 rows light up only on boards with the module fitted. Push a new model from My Models -&gt; Push and it appears in the dropdown.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'teach the board its own manual' beat — the knowledge base is rebuilt on-device in about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voice-start takes 2-3 minutes to reach 'listening'; each exchange answers in 10-20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22960" y="2103120"/>
            <a:ext cx="347472" cy="91440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417"/>
                </a:solidFill>
                <a:latin typeface="Arial"/>
              </a:rPr>
              <a:t>The eIQ GenAI Flow,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0632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F6369"/>
                </a:solidFill>
                <a:latin typeface="Arial"/>
              </a:rPr>
              <a:t>The exact screens an attendee moves through — sign up with a password, claim a board, then work the cockpit top to bottom in workshop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68748"/>
                </a:solidFill>
                <a:latin typeface="Arial"/>
              </a:rPr>
              <a:t>1 sign up  →  2 kit  →  3 claim  →  4 connected  →  5 cockpit · cards 1–6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369"/>
                </a:solidFill>
                <a:latin typeface="Arial"/>
              </a:rPr>
              <a:t>NXP FRDM i.MX 95 · eIQ GenAI Flow · Avnet /IOTCONNECT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Create your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One form, one password — your private slice of the platform, instantly</a:t>
            </a:r>
          </a:p>
        </p:txBody>
      </p:sp>
      <p:pic>
        <p:nvPicPr>
          <p:cNvPr id="5" name="Picture 4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4206240" cy="4565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8288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Name, email, company, event code — and choose your password right here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Setting a password skips the email invite — you're ready the moment you submit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One API chain underneath: a private entity, a user, an iMX95genai device with an x.509 cert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You only ever see your own board — isolation is the platform's, not the UI's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Your board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The kit IS your credentials — a real x.509 device identity</a:t>
            </a:r>
          </a:p>
        </p:txBody>
      </p:sp>
      <p:pic>
        <p:nvPicPr>
          <p:cNvPr id="5" name="Picture 4" descr="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4206240" cy="4565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8288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Log into the /IOTCONNECT management portal with the password you chose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Download the board kit (.zip): iotcDeviceConfig.json + x.509 cert + private key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Board on USB? The finder reads its IP over the serial console — or use the manual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Claim your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A page the board serves itself — drag, drop, claimed</a:t>
            </a:r>
          </a:p>
        </p:txBody>
      </p:sp>
      <p:pic>
        <p:nvPicPr>
          <p:cNvPr id="5" name="Picture 4" descr="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4206240" cy="41254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8288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Open the board's own URL from its card — http://imx95-XXXX.local:8088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Drag the kit on → identity installs, demo restarts → “✓ Connected”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Re-claiming needs explicit confirmation — no accidental board theft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Watch it come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The board finds its broker itself and streams — the production pipeline, not a mock</a:t>
            </a:r>
          </a:p>
        </p:txBody>
      </p:sp>
      <p:pic>
        <p:nvPicPr>
          <p:cNvPr id="5" name="Picture 4" descr="console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499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The board found its broker and credentials itself at boot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Template = the contract: 54 telemetry attributes, 18 commands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D2C: ~50 attributes every 10 s over MQTT · C2D: every button is a real, acknowledged command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Sign in to your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The same account you created at signup — scoped to your board</a:t>
            </a:r>
          </a:p>
        </p:txBody>
      </p:sp>
      <p:pic>
        <p:nvPicPr>
          <p:cNvPr id="5" name="Picture 4" descr="cockpit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01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Log in with the email and password you chose at signup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The platform scopes everything to your entity — you only see your board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No new account, no separate 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Your board,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Card 1 — telemetry becomes gauges</a:t>
            </a:r>
          </a:p>
        </p:txBody>
      </p:sp>
      <p:pic>
        <p:nvPicPr>
          <p:cNvPr id="5" name="Picture 4" descr="cockpit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01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Board telemetry as live gauges — CPU, temperature, memory, disk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The same ~50 attributes, updated every 10 s — now visual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The cockpit's cards are numbered in workshop order — scroll top to bottom and you exercise the board step by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Ask your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Card 2 — first prompts, every answer measured</a:t>
            </a:r>
          </a:p>
        </p:txBody>
      </p:sp>
      <p:pic>
        <p:nvPicPr>
          <p:cNvPr id="5" name="Picture 4" descr="cockpit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01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LLM / Agent / VLM tabs — answers arrive with live load / TTFT / tok/s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The agent answers from real board data — time, temperature, memory — not guesses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First answer pays the model load (~1 min); it's a metric, not a bug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Model shootout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Cards 3 &amp; 4 — pick a model and backend, then race every engine</a:t>
            </a:r>
          </a:p>
        </p:txBody>
      </p:sp>
      <p:pic>
        <p:nvPicPr>
          <p:cNvPr id="5" name="Picture 4" descr="cockpit-shoo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01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Model &amp; backend: switch models, run on CPU / Neutron / Ara240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Shootout: one prompt, every engine — load / TTFT / tok/s + each verbatim answer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The honest way to see what quantization, an NPU, or a bigger model buys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Teach it your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Card 5 — a knowledge base you feed yourself</a:t>
            </a:r>
          </a:p>
        </p:txBody>
      </p:sp>
      <p:pic>
        <p:nvPicPr>
          <p:cNvPr id="5" name="Picture 4" descr="cockpit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01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Drop a PDF or document, or index a web page URL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Converted in the cloud, then chunked &amp; embedded on the board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RAG on → grounded answers that quote your docs, verbatim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Voice, the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Card 6 — four models in a row, fully offline</a:t>
            </a:r>
          </a:p>
        </p:txBody>
      </p:sp>
      <p:pic>
        <p:nvPicPr>
          <p:cNvPr id="5" name="Picture 4" descr="cockpit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01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“Hey NXP” → wake word → STT → LLM → TTS — no cloud in the loop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Every spoken exchange lands in telemetry — question, answer, count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11417"/>
                </a:solidFill>
                <a:latin typeface="Arial"/>
              </a:rPr>
              <a:t>■  The live workshop closes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02920" y="457200"/>
            <a:ext cx="191109" cy="502920"/>
          </a:xfrm>
          <a:prstGeom prst="parallelogram">
            <a:avLst/>
          </a:prstGeom>
          <a:solidFill>
            <a:srgbClr val="41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417"/>
                </a:solidFill>
                <a:latin typeface="Arial"/>
              </a:rPr>
              <a:t>What you leave knowing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8748"/>
                </a:solidFill>
                <a:latin typeface="Arial"/>
              </a:rPr>
              <a:t>Four ideas the whole flow was built to teach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737360"/>
          </a:xfrm>
          <a:prstGeom prst="roundRect">
            <a:avLst/>
          </a:prstGeom>
          <a:solidFill>
            <a:srgbClr val="F4F5F6"/>
          </a:solidFill>
          <a:ln w="28575">
            <a:solidFill>
              <a:srgbClr val="41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417"/>
                </a:solidFill>
                <a:latin typeface="Arial"/>
              </a:rPr>
              <a:t>tok/s is a bandwidth story</a:t>
            </a:r>
          </a:p>
          <a:p>
            <a:r>
              <a:rPr sz="1300">
                <a:solidFill>
                  <a:srgbClr val="5F6369"/>
                </a:solidFill>
                <a:latin typeface="Arial"/>
              </a:rPr>
              <a:t>Every token reads essentially all the weights once — speed is memory-bandwidth-bound.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828800"/>
            <a:ext cx="5212080" cy="1737360"/>
          </a:xfrm>
          <a:prstGeom prst="roundRect">
            <a:avLst/>
          </a:prstGeom>
          <a:solidFill>
            <a:srgbClr val="F4F5F6"/>
          </a:solidFill>
          <a:ln w="28575">
            <a:solidFill>
              <a:srgbClr val="41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417"/>
                </a:solidFill>
                <a:latin typeface="Arial"/>
              </a:rPr>
              <a:t>Quantize, then re-validate</a:t>
            </a:r>
          </a:p>
          <a:p>
            <a:r>
              <a:rPr sz="1300">
                <a:solidFill>
                  <a:srgbClr val="5F6369"/>
                </a:solidFill>
                <a:latin typeface="Arial"/>
              </a:rPr>
              <a:t>4-bit is survivable with mixed precision, brutal without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1737360"/>
          </a:xfrm>
          <a:prstGeom prst="roundRect">
            <a:avLst/>
          </a:prstGeom>
          <a:solidFill>
            <a:srgbClr val="F4F5F6"/>
          </a:solidFill>
          <a:ln w="28575">
            <a:solidFill>
              <a:srgbClr val="41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417"/>
                </a:solidFill>
                <a:latin typeface="Arial"/>
              </a:rPr>
              <a:t>Ground or agent small models</a:t>
            </a:r>
          </a:p>
          <a:p>
            <a:r>
              <a:rPr sz="1300">
                <a:solidFill>
                  <a:srgbClr val="5F6369"/>
                </a:solidFill>
                <a:latin typeface="Arial"/>
              </a:rPr>
              <a:t>RAG retrieves real passages; an agent runs a real tool — both beat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931920"/>
            <a:ext cx="5212080" cy="1737360"/>
          </a:xfrm>
          <a:prstGeom prst="roundRect">
            <a:avLst/>
          </a:prstGeom>
          <a:solidFill>
            <a:srgbClr val="F4F5F6"/>
          </a:solidFill>
          <a:ln w="28575">
            <a:solidFill>
              <a:srgbClr val="41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11417"/>
                </a:solidFill>
                <a:latin typeface="Arial"/>
              </a:rPr>
              <a:t>Measure load separately</a:t>
            </a:r>
          </a:p>
          <a:p>
            <a:r>
              <a:rPr sz="1300">
                <a:solidFill>
                  <a:srgbClr val="5F6369"/>
                </a:solidFill>
                <a:latin typeface="Arial"/>
              </a:rPr>
              <a:t>Load, TTFT and tok/s are three numbers — never bury load in throughput.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